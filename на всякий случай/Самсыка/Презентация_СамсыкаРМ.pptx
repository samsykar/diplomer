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3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9B3"/>
    <a:srgbClr val="191923"/>
    <a:srgbClr val="FCF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C7ACB-FA9E-42A1-AA12-D7D6CBE870C6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AE29D-09B4-4359-811B-DFCB091DCD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93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традиционной схеме официант записывает заказ в блокнот, потом переписывает на кухню – это ведёт к ошибкам. Кроме того, нет связи со складом. Ресторанам нужно простое, недорогое решение, которое работает на обычных планшетах по локальной сети.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200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– создать готовую систему. Задачи: изучить процессы, спроектировать базу данных, написать сервер и клиент, обеспечить связь, протестировать и посчитать экономический эффект.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12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Выбрал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кроссплатформенность. Клиент-сервер: данные хранятся централизованно, планшеты подключаются по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Wi-Fi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Сигналы и слоты связывают C++ и QML.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073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старый процесс: много ручных операций.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636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внедрения: всё автоматизировано, ингредиенты списываются сразу. Хоть связей и стало больше, но это потому, что добавилось приложение.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582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470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DBWorker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TcpClient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имеют одинаковый интерфейс – это позволяет подменять их в QML в зависимости от режима (сервер/клиент).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590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об окнах</a:t>
            </a:r>
            <a:br>
              <a:rPr lang="ru-RU" dirty="0"/>
            </a:b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вводит логин и пароль – система определяет роль. В настройках можно переключить режим: если «сервер» – приложение само работает с БД и принимает подключения; если «клиент» – подключается к другому устройству.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558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Официант выбирает блюдо, указывает количество. Система проверяет: хватает ли продуктов? Если да – списывает и добавляет в корзину. При удалении – возвращает продукты на склад. Это всё в одной транзакции.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2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Кладовщик видит все продукты. Может увеличить количество при поставке, уменьшить при списании или установить точное число. Изменения сразу отправляются на сервер и синхронизируются с другими клиентами.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431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Администратор может посмотреть выручку за период, разбивку по дням, популярность блюд и список дефицитных продуктов. Отчёт можно сохранить в CSV и открыть в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35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C++ модулей написаны тесты. Например, проверка таймаута клиента, сохранение настроек. Функциональные тесты проверяют сценарии пользователей – все успешно, ошибок не выявлено.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3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 сделан по методике Рахматуллина. Учтены зарплата разработчика, отчисления, электроэнергия. Внедрение сократит время обработки заказа, уменьшит потери продуктов, поэтому окупаемость – менее двух лет. Средний показатель окупаемости в России: 3 года.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722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результате создан готовый продукт, который можно внедрять. В будущем можно добавить интернет-заказы и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-уведомления для поваров. Спасибо за внимание, готов ответить на вопросы.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E29D-09B4-4359-811B-DFCB091DCDD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731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EE363-A5C5-4188-A094-153C78B2A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C249A4-5CD8-4D94-977C-47ECCA6E3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93B808-D5CA-4993-BF37-F4B44435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08941-52CA-438D-8A7D-7D731883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53C9FB-876E-4F9A-AC1D-D5F3AEAE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08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61047-8FD1-4119-BB46-3D34B972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6B93CD-E62E-4B7B-9E10-DB56CB487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A69F5F-D3C3-437E-9ED3-D61EABA6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79CED0-CC1E-4335-919E-41ECA7A9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28785A-F6EB-4CAE-8DEE-3C910062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39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5C60B-168D-4FB6-BA34-2FE691CE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3196C3-0365-4D59-925E-9652396CB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23BDA8-B2DA-4D44-9A71-1DCBDBF8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CD8829-F5B9-4060-BDE3-D09A7DF1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B32353-46B8-40E2-B8EF-6EEF4DD8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13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A993B-7F19-4D96-829D-A7B3BD26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5A21DF-0B09-4A2A-9CBD-C61171573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D0B401-EDF1-4384-BCDD-1373E8C96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B68DB2-693A-4B71-A1BC-69410BFA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E0F1B4-530D-4640-9777-3247ECB2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D6FE36-3B0B-46E5-9A6F-E1A0B14F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23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B65EB-CB4F-49A1-8694-2E90DC6F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081EFD-ACD4-4D7B-9715-1E066463C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0D36EB-2EB8-4ED1-917D-6D99F537E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B878E5-38F3-420C-9EDB-C7B785747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849EA8-C8E2-46F2-AB6D-E794B7B01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5807FB-AF72-48EB-9B5D-F7D5E5C5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59A474-A896-479E-8E83-E6D1AEF9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7B811-6462-4187-95F5-E48ECD60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6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95ABF-273A-47F5-A588-78FE5BE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040701-EA0B-4B35-8E91-12C8D264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61FD90-4401-48FD-930E-CF99C97C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C55C7E-BAB5-4212-B312-7F7637F2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95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0FB7CA-0C6F-4095-A22C-E8EF6788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E9F218F-40EE-424C-B886-EE5CA7D5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272096-1F12-4D8E-B7DB-7324A4C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32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6070-BFE8-4A6F-9F17-AC2B27EB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6812E-3131-4151-ADE0-04F107B95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A92DAC-CD9E-45D3-B0D4-8E858833B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5BD6E8-2933-4C36-A393-A82F8D5B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B43ABC-9E9E-45A9-8439-6CDCF6B2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0E343D-EC76-487C-BD3C-D4285BE6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71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262E7-4541-4D05-8454-22BB4E19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23E50D-3CCA-4AE2-AAB8-DE7E2A7E3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2C8962-107D-4570-878C-68C11FE70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383C4E-C22B-4154-A9FC-0A3E18715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4163E9-3588-40B8-BFBF-04D7E997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0358E0-B902-4DFB-B39D-37F0A6F7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21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D6307-D4B3-46DA-8E2F-2007260D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D8752C-50F8-46AC-8863-D38BB3406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AA620A-F583-4814-96FD-3C518911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F7BAAB-BB09-4FDE-B863-B41119E2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C7ADDA-17C6-48FA-BBDE-9BB754D9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87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E22560-9E48-4020-8883-A1CED0A11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D5B290-7DAD-4973-B546-B81C9E0C4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991DCB-869F-4718-AF8D-7F5F72A2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64EB02-E2AA-405F-AD75-BF72ED51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858968-9F60-4DD8-B2F4-49E3DB8A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82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DD996-F18A-45B2-AE6C-3FF50A09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1E0D52-8256-4C6C-8BC0-3A9961D55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63383C-4C41-475F-964C-7B7762B0E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BE37F-C4B8-43B9-BE66-EA3945D9964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C7E100-018D-4EDB-A31F-F8E610BAB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0404BD-C1AF-4FF0-A1A1-E05C5DA67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91187-C8A2-43EA-A34C-CF1C5B53F4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77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A692E-D35A-4C2E-B623-E5D1839AA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>
                <a:solidFill>
                  <a:srgbClr val="191923"/>
                </a:solidFill>
                <a:latin typeface="+mn-lt"/>
              </a:rPr>
              <a:t>РАЗРАБОТКА ПРОГРАММЫ ДЛЯ АВТОМАТИЗАЦИИ ОФОРМЛЕНИЯ </a:t>
            </a:r>
            <a:br>
              <a:rPr lang="ru-RU" sz="4400" dirty="0">
                <a:solidFill>
                  <a:srgbClr val="191923"/>
                </a:solidFill>
                <a:latin typeface="+mn-lt"/>
              </a:rPr>
            </a:br>
            <a:r>
              <a:rPr lang="ru-RU" sz="4400" dirty="0">
                <a:solidFill>
                  <a:srgbClr val="191923"/>
                </a:solidFill>
                <a:latin typeface="+mn-lt"/>
              </a:rPr>
              <a:t>ЗАКАЗОВ В РЕСТОРАНЕ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C31615-554E-4522-A6BB-96EF2E4E9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661" y="4396096"/>
            <a:ext cx="9144000" cy="1027715"/>
          </a:xfrm>
        </p:spPr>
        <p:txBody>
          <a:bodyPr>
            <a:normAutofit/>
          </a:bodyPr>
          <a:lstStyle/>
          <a:p>
            <a:pPr algn="l"/>
            <a:r>
              <a:rPr lang="ru-RU" sz="2800" dirty="0">
                <a:solidFill>
                  <a:srgbClr val="191923"/>
                </a:solidFill>
              </a:rPr>
              <a:t>Студент: </a:t>
            </a:r>
            <a:r>
              <a:rPr lang="ru-RU" sz="2800" dirty="0" err="1">
                <a:solidFill>
                  <a:srgbClr val="191923"/>
                </a:solidFill>
              </a:rPr>
              <a:t>Самсыка</a:t>
            </a:r>
            <a:r>
              <a:rPr lang="ru-RU" sz="2800" dirty="0">
                <a:solidFill>
                  <a:srgbClr val="191923"/>
                </a:solidFill>
              </a:rPr>
              <a:t> Родион Михайлович И-42</a:t>
            </a:r>
          </a:p>
          <a:p>
            <a:pPr algn="l"/>
            <a:r>
              <a:rPr lang="ru-RU" sz="2800" dirty="0">
                <a:solidFill>
                  <a:srgbClr val="191923"/>
                </a:solidFill>
              </a:rPr>
              <a:t>Научный руководитель: Фомин Андрей </a:t>
            </a:r>
            <a:r>
              <a:rPr lang="ru-RU" sz="2800" dirty="0" err="1">
                <a:solidFill>
                  <a:srgbClr val="191923"/>
                </a:solidFill>
              </a:rPr>
              <a:t>Томасович</a:t>
            </a:r>
            <a:endParaRPr lang="ru-RU" sz="2800" dirty="0">
              <a:solidFill>
                <a:srgbClr val="191923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076F085-E2A2-464A-A8AF-2E88C5B4C159}"/>
              </a:ext>
            </a:extLst>
          </p:cNvPr>
          <p:cNvSpPr txBox="1">
            <a:spLocks/>
          </p:cNvSpPr>
          <p:nvPr/>
        </p:nvSpPr>
        <p:spPr>
          <a:xfrm>
            <a:off x="3201000" y="0"/>
            <a:ext cx="5789998" cy="13475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191923"/>
                </a:solidFill>
              </a:rPr>
              <a:t>Министерство образования и науки Краснодарского края</a:t>
            </a:r>
          </a:p>
          <a:p>
            <a:r>
              <a:rPr lang="ru-RU" sz="2800" dirty="0">
                <a:solidFill>
                  <a:srgbClr val="191923"/>
                </a:solidFill>
              </a:rPr>
              <a:t>ГБПОУ КК ЕПК</a:t>
            </a:r>
          </a:p>
          <a:p>
            <a:endParaRPr lang="ru-RU" sz="2800" dirty="0">
              <a:solidFill>
                <a:srgbClr val="191923"/>
              </a:solidFill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AC1096C-52A0-46D4-8BE7-05CA8E606AE5}"/>
              </a:ext>
            </a:extLst>
          </p:cNvPr>
          <p:cNvSpPr txBox="1">
            <a:spLocks/>
          </p:cNvSpPr>
          <p:nvPr/>
        </p:nvSpPr>
        <p:spPr>
          <a:xfrm>
            <a:off x="4922520" y="6309944"/>
            <a:ext cx="2346959" cy="548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191923"/>
                </a:solidFill>
              </a:rPr>
              <a:t>Г. Ейск 2026 г</a:t>
            </a:r>
          </a:p>
        </p:txBody>
      </p:sp>
    </p:spTree>
    <p:extLst>
      <p:ext uri="{BB962C8B-B14F-4D97-AF65-F5344CB8AC3E}">
        <p14:creationId xmlns:p14="http://schemas.microsoft.com/office/powerpoint/2010/main" val="41331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10FD14-AFB3-4E4B-A5EE-E165F58CE39F}"/>
              </a:ext>
            </a:extLst>
          </p:cNvPr>
          <p:cNvSpPr/>
          <p:nvPr/>
        </p:nvSpPr>
        <p:spPr>
          <a:xfrm>
            <a:off x="1157057" y="435004"/>
            <a:ext cx="2112885" cy="2068497"/>
          </a:xfrm>
          <a:prstGeom prst="rect">
            <a:avLst/>
          </a:prstGeom>
          <a:solidFill>
            <a:srgbClr val="FCFE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05FDFB-C67C-45C6-BB80-57FA4FCFF368}"/>
              </a:ext>
            </a:extLst>
          </p:cNvPr>
          <p:cNvSpPr/>
          <p:nvPr/>
        </p:nvSpPr>
        <p:spPr>
          <a:xfrm>
            <a:off x="5382827" y="435004"/>
            <a:ext cx="2112885" cy="2068497"/>
          </a:xfrm>
          <a:prstGeom prst="rect">
            <a:avLst/>
          </a:prstGeom>
          <a:solidFill>
            <a:srgbClr val="19192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DA39ABF-CB18-47F3-B4F8-8C74DABDEA36}"/>
              </a:ext>
            </a:extLst>
          </p:cNvPr>
          <p:cNvSpPr/>
          <p:nvPr/>
        </p:nvSpPr>
        <p:spPr>
          <a:xfrm>
            <a:off x="3269942" y="435005"/>
            <a:ext cx="2112885" cy="2068497"/>
          </a:xfrm>
          <a:prstGeom prst="rect">
            <a:avLst/>
          </a:prstGeom>
          <a:solidFill>
            <a:srgbClr val="0F79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9E58C2-1A5F-4D52-8E2A-FDF343C62F05}"/>
              </a:ext>
            </a:extLst>
          </p:cNvPr>
          <p:cNvSpPr/>
          <p:nvPr/>
        </p:nvSpPr>
        <p:spPr>
          <a:xfrm>
            <a:off x="134754" y="2503500"/>
            <a:ext cx="12057246" cy="43544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Титульный слайд: полное название организации, тема работы, ваши данные (ФИО, группа), данные научного руководителя, город и год.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Введение: кратко об актуальности, цели и задачах работы, объекте и предмете исследования.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Цели и задачи: можно объединить с предыдущим слайдом.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Методы и средства разработки: перечислите технологии (C++, </a:t>
            </a:r>
            <a:r>
              <a:rPr lang="ru-RU" sz="1600" dirty="0" err="1">
                <a:solidFill>
                  <a:schemeClr val="tx1"/>
                </a:solidFill>
              </a:rPr>
              <a:t>Qt</a:t>
            </a:r>
            <a:r>
              <a:rPr lang="ru-RU" sz="1600" dirty="0">
                <a:solidFill>
                  <a:schemeClr val="tx1"/>
                </a:solidFill>
              </a:rPr>
              <a:t>, </a:t>
            </a:r>
            <a:r>
              <a:rPr lang="ru-RU" sz="1600" dirty="0" err="1">
                <a:solidFill>
                  <a:schemeClr val="tx1"/>
                </a:solidFill>
              </a:rPr>
              <a:t>PostgreSQL</a:t>
            </a:r>
            <a:r>
              <a:rPr lang="ru-RU" sz="1600" dirty="0">
                <a:solidFill>
                  <a:schemeClr val="tx1"/>
                </a:solidFill>
              </a:rPr>
              <a:t>), архитектуру (клиент-сервер) и паттерны проектирования.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Основная часть (5-7 слайдов):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Модель предметной области: ключевые диаграммы (BPMN, ER-диаграмма) с краткими пояснениями.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Архитектура приложения: основная UML-диаграмма классов.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Демонстрация ключевых модулей: покажите, как выглядит работа с заказами, складом и отчётами на сенсорных экранах.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Результаты тестирования: краткая сводка о модульных тестах (сколько прошло успешно) и результатах функционального тестирования (можно вынести фрагмент таблицы с тест-кейсами).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Заключение / Выводы: перечислите основные итоги вашей работы.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Список источников: основные источники (5-7 штук), которыми вы пользовались.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</a:rPr>
              <a:t>Финальный слайд: обязательная фраза «Спасибо за внимание!» и, возможно, ваши контакты.</a:t>
            </a:r>
          </a:p>
        </p:txBody>
      </p:sp>
    </p:spTree>
    <p:extLst>
      <p:ext uri="{BB962C8B-B14F-4D97-AF65-F5344CB8AC3E}">
        <p14:creationId xmlns:p14="http://schemas.microsoft.com/office/powerpoint/2010/main" val="308447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Актуальность и 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Проблема:</a:t>
            </a:r>
            <a:r>
              <a:rPr lang="ru-RU" dirty="0">
                <a:solidFill>
                  <a:srgbClr val="191923"/>
                </a:solidFill>
              </a:rPr>
              <a:t> ручной приём заказов → ошибки передачи на кухню, задержки, неконтролируемый расход продуктов.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Актуальность:</a:t>
            </a:r>
            <a:r>
              <a:rPr lang="ru-RU" dirty="0">
                <a:solidFill>
                  <a:srgbClr val="191923"/>
                </a:solidFill>
              </a:rPr>
              <a:t> потребность малых и средних ресторанов в недорогом, кроссплатформенном решении для планшетов.</a:t>
            </a:r>
          </a:p>
        </p:txBody>
      </p:sp>
    </p:spTree>
    <p:extLst>
      <p:ext uri="{BB962C8B-B14F-4D97-AF65-F5344CB8AC3E}">
        <p14:creationId xmlns:p14="http://schemas.microsoft.com/office/powerpoint/2010/main" val="721181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Цель:</a:t>
            </a:r>
            <a:r>
              <a:rPr lang="ru-RU" dirty="0">
                <a:solidFill>
                  <a:srgbClr val="191923"/>
                </a:solidFill>
              </a:rPr>
              <a:t> разработать автоматизированную систему для оформления заказов с модулем складского учёта и отчётности, работающую в локальной сети на планшетах.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Задачи: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91923"/>
                </a:solidFill>
              </a:rPr>
              <a:t>Анализ бизнес-процессов ресторана.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91923"/>
                </a:solidFill>
              </a:rPr>
              <a:t>Проектирование БД и формулировка требований.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91923"/>
                </a:solidFill>
              </a:rPr>
              <a:t>Реализация сервера (бизнес-логика, </a:t>
            </a:r>
            <a:r>
              <a:rPr lang="ru-RU" dirty="0" err="1">
                <a:solidFill>
                  <a:srgbClr val="191923"/>
                </a:solidFill>
              </a:rPr>
              <a:t>PostgreSQL</a:t>
            </a:r>
            <a:r>
              <a:rPr lang="ru-RU" dirty="0">
                <a:solidFill>
                  <a:srgbClr val="191923"/>
                </a:solidFill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91923"/>
                </a:solidFill>
              </a:rPr>
              <a:t>Реализация клиента на </a:t>
            </a:r>
            <a:r>
              <a:rPr lang="ru-RU" dirty="0" err="1">
                <a:solidFill>
                  <a:srgbClr val="191923"/>
                </a:solidFill>
              </a:rPr>
              <a:t>Qt</a:t>
            </a:r>
            <a:r>
              <a:rPr lang="ru-RU" dirty="0">
                <a:solidFill>
                  <a:srgbClr val="191923"/>
                </a:solidFill>
              </a:rPr>
              <a:t> </a:t>
            </a:r>
            <a:r>
              <a:rPr lang="ru-RU" dirty="0" err="1">
                <a:solidFill>
                  <a:srgbClr val="191923"/>
                </a:solidFill>
              </a:rPr>
              <a:t>Quick</a:t>
            </a:r>
            <a:r>
              <a:rPr lang="ru-RU" dirty="0">
                <a:solidFill>
                  <a:srgbClr val="191923"/>
                </a:solidFill>
              </a:rPr>
              <a:t> (официант, кладовщик, админ).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91923"/>
                </a:solidFill>
              </a:rPr>
              <a:t>Обеспечение надёжного TCP-взаимодействия (JSON).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91923"/>
                </a:solidFill>
              </a:rPr>
              <a:t>Тестирование и экономическая оценка.</a:t>
            </a:r>
          </a:p>
        </p:txBody>
      </p:sp>
    </p:spTree>
    <p:extLst>
      <p:ext uri="{BB962C8B-B14F-4D97-AF65-F5344CB8AC3E}">
        <p14:creationId xmlns:p14="http://schemas.microsoft.com/office/powerpoint/2010/main" val="3537708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Технологии и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Язык: </a:t>
            </a:r>
            <a:r>
              <a:rPr lang="en-US" dirty="0">
                <a:solidFill>
                  <a:srgbClr val="191923"/>
                </a:solidFill>
              </a:rPr>
              <a:t>C++ (</a:t>
            </a:r>
            <a:r>
              <a:rPr lang="ru-RU" dirty="0">
                <a:solidFill>
                  <a:srgbClr val="191923"/>
                </a:solidFill>
              </a:rPr>
              <a:t>бизнес-логика, сеть, БД)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Фреймворк: </a:t>
            </a:r>
            <a:r>
              <a:rPr lang="en-US" dirty="0">
                <a:solidFill>
                  <a:srgbClr val="191923"/>
                </a:solidFill>
              </a:rPr>
              <a:t>Qt 6 (Qt Quick – </a:t>
            </a:r>
            <a:r>
              <a:rPr lang="ru-RU" dirty="0">
                <a:solidFill>
                  <a:srgbClr val="191923"/>
                </a:solidFill>
              </a:rPr>
              <a:t>интерфейс, </a:t>
            </a:r>
            <a:r>
              <a:rPr lang="en-US" dirty="0">
                <a:solidFill>
                  <a:srgbClr val="191923"/>
                </a:solidFill>
              </a:rPr>
              <a:t>Qt Network – TCP, Qt SQL – PostgreSQL)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СУБД: </a:t>
            </a:r>
            <a:r>
              <a:rPr lang="en-US" dirty="0">
                <a:solidFill>
                  <a:srgbClr val="191923"/>
                </a:solidFill>
              </a:rPr>
              <a:t>PostgreSQL (</a:t>
            </a:r>
            <a:r>
              <a:rPr lang="ru-RU" dirty="0">
                <a:solidFill>
                  <a:srgbClr val="191923"/>
                </a:solidFill>
              </a:rPr>
              <a:t>серверный режим)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Архитектура: </a:t>
            </a:r>
            <a:r>
              <a:rPr lang="ru-RU" dirty="0">
                <a:solidFill>
                  <a:srgbClr val="191923"/>
                </a:solidFill>
              </a:rPr>
              <a:t>клиент-сервер + паттерны: </a:t>
            </a:r>
            <a:r>
              <a:rPr lang="en-US" dirty="0">
                <a:solidFill>
                  <a:srgbClr val="191923"/>
                </a:solidFill>
              </a:rPr>
              <a:t>Singleton (</a:t>
            </a:r>
            <a:r>
              <a:rPr lang="ru-RU" dirty="0" err="1">
                <a:solidFill>
                  <a:srgbClr val="191923"/>
                </a:solidFill>
              </a:rPr>
              <a:t>логи</a:t>
            </a:r>
            <a:r>
              <a:rPr lang="ru-RU" dirty="0">
                <a:solidFill>
                  <a:srgbClr val="191923"/>
                </a:solidFill>
              </a:rPr>
              <a:t>, настройки), </a:t>
            </a:r>
            <a:r>
              <a:rPr lang="en-US" dirty="0">
                <a:solidFill>
                  <a:srgbClr val="191923"/>
                </a:solidFill>
              </a:rPr>
              <a:t>Signal-Slot, Model-View.</a:t>
            </a:r>
            <a:endParaRPr lang="ru-RU" dirty="0">
              <a:solidFill>
                <a:srgbClr val="1919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32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0214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Модель предметной области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8A2BCE-5A82-414F-B3F1-735595762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045" y="668133"/>
            <a:ext cx="9211907" cy="5748337"/>
          </a:xfrm>
          <a:prstGeom prst="rect">
            <a:avLst/>
          </a:prstGeom>
          <a:noFill/>
          <a:ln w="25400">
            <a:solidFill>
              <a:srgbClr val="0F79B3"/>
            </a:solidFill>
          </a:ln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60BF9306-1592-4EDA-B80C-A22344893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5856" y="6416470"/>
            <a:ext cx="5900287" cy="44152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191923"/>
                </a:solidFill>
              </a:rPr>
              <a:t>Схема бизнес-процесса</a:t>
            </a:r>
            <a:r>
              <a:rPr lang="ru-RU" dirty="0">
                <a:solidFill>
                  <a:srgbClr val="0F79B3"/>
                </a:solidFill>
              </a:rPr>
              <a:t> «как есть»</a:t>
            </a:r>
          </a:p>
        </p:txBody>
      </p:sp>
    </p:spTree>
    <p:extLst>
      <p:ext uri="{BB962C8B-B14F-4D97-AF65-F5344CB8AC3E}">
        <p14:creationId xmlns:p14="http://schemas.microsoft.com/office/powerpoint/2010/main" val="247435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0214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Модель предметной области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0BF9306-1592-4EDA-B80C-A22344893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5856" y="6416470"/>
            <a:ext cx="5900287" cy="44152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191923"/>
                </a:solidFill>
              </a:rPr>
              <a:t>Схема бизнес-процесса</a:t>
            </a:r>
            <a:r>
              <a:rPr lang="ru-RU" dirty="0">
                <a:solidFill>
                  <a:srgbClr val="0F79B3"/>
                </a:solidFill>
              </a:rPr>
              <a:t> «как будет»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C30BF0-D83C-44A2-80A1-1649B8B06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599" y="710215"/>
            <a:ext cx="9266800" cy="5706255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146374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Логическая модель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42543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F79B3"/>
                </a:solidFill>
              </a:rPr>
              <a:t>Основные</a:t>
            </a:r>
            <a:r>
              <a:rPr lang="en-US" dirty="0">
                <a:solidFill>
                  <a:srgbClr val="0F79B3"/>
                </a:solidFill>
              </a:rPr>
              <a:t> </a:t>
            </a:r>
            <a:r>
              <a:rPr lang="en-US" dirty="0" err="1">
                <a:solidFill>
                  <a:srgbClr val="0F79B3"/>
                </a:solidFill>
              </a:rPr>
              <a:t>сущности</a:t>
            </a:r>
            <a:r>
              <a:rPr lang="en-US" dirty="0">
                <a:solidFill>
                  <a:srgbClr val="0F79B3"/>
                </a:solidFill>
              </a:rPr>
              <a:t>: </a:t>
            </a:r>
            <a:endParaRPr lang="ru-RU" dirty="0">
              <a:solidFill>
                <a:srgbClr val="0F79B3"/>
              </a:solidFill>
            </a:endParaRPr>
          </a:p>
          <a:p>
            <a:r>
              <a:rPr lang="en-US" dirty="0">
                <a:solidFill>
                  <a:srgbClr val="191923"/>
                </a:solidFill>
              </a:rPr>
              <a:t>Users, </a:t>
            </a:r>
            <a:endParaRPr lang="ru-RU" dirty="0">
              <a:solidFill>
                <a:srgbClr val="191923"/>
              </a:solidFill>
            </a:endParaRPr>
          </a:p>
          <a:p>
            <a:r>
              <a:rPr lang="en-US" dirty="0">
                <a:solidFill>
                  <a:srgbClr val="191923"/>
                </a:solidFill>
              </a:rPr>
              <a:t>Food, </a:t>
            </a:r>
            <a:endParaRPr lang="ru-RU" dirty="0">
              <a:solidFill>
                <a:srgbClr val="191923"/>
              </a:solidFill>
            </a:endParaRPr>
          </a:p>
          <a:p>
            <a:r>
              <a:rPr lang="en-US" dirty="0">
                <a:solidFill>
                  <a:srgbClr val="191923"/>
                </a:solidFill>
              </a:rPr>
              <a:t>Product, </a:t>
            </a:r>
            <a:endParaRPr lang="ru-RU" dirty="0">
              <a:solidFill>
                <a:srgbClr val="191923"/>
              </a:solidFill>
            </a:endParaRPr>
          </a:p>
          <a:p>
            <a:r>
              <a:rPr lang="en-US" dirty="0" err="1">
                <a:solidFill>
                  <a:srgbClr val="191923"/>
                </a:solidFill>
              </a:rPr>
              <a:t>FoodComposition</a:t>
            </a:r>
            <a:r>
              <a:rPr lang="en-US" dirty="0">
                <a:solidFill>
                  <a:srgbClr val="191923"/>
                </a:solidFill>
              </a:rPr>
              <a:t>, </a:t>
            </a:r>
            <a:endParaRPr lang="ru-RU" dirty="0">
              <a:solidFill>
                <a:srgbClr val="191923"/>
              </a:solidFill>
            </a:endParaRPr>
          </a:p>
          <a:p>
            <a:r>
              <a:rPr lang="en-US" dirty="0">
                <a:solidFill>
                  <a:srgbClr val="191923"/>
                </a:solidFill>
              </a:rPr>
              <a:t>Orders, </a:t>
            </a:r>
            <a:endParaRPr lang="ru-RU" dirty="0">
              <a:solidFill>
                <a:srgbClr val="191923"/>
              </a:solidFill>
            </a:endParaRPr>
          </a:p>
          <a:p>
            <a:r>
              <a:rPr lang="en-US" dirty="0" err="1">
                <a:solidFill>
                  <a:srgbClr val="191923"/>
                </a:solidFill>
              </a:rPr>
              <a:t>OrderFood</a:t>
            </a:r>
            <a:r>
              <a:rPr lang="en-US" dirty="0">
                <a:solidFill>
                  <a:srgbClr val="191923"/>
                </a:solidFill>
              </a:rPr>
              <a:t>.</a:t>
            </a:r>
            <a:endParaRPr lang="ru-RU" dirty="0">
              <a:solidFill>
                <a:srgbClr val="191923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EC46A2-2C2E-4AA6-9874-F3FAC970B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63" y="1421870"/>
            <a:ext cx="6031029" cy="5263688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316571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Общая диаграмма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58714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F79B3"/>
                </a:solidFill>
              </a:rPr>
              <a:t>DBWorker</a:t>
            </a:r>
            <a:r>
              <a:rPr lang="en-US" dirty="0">
                <a:solidFill>
                  <a:srgbClr val="0F79B3"/>
                </a:solidFill>
              </a:rPr>
              <a:t> – </a:t>
            </a:r>
            <a:r>
              <a:rPr lang="ru-RU" dirty="0">
                <a:solidFill>
                  <a:srgbClr val="191923"/>
                </a:solidFill>
              </a:rPr>
              <a:t>работа с </a:t>
            </a:r>
            <a:r>
              <a:rPr lang="en-US" dirty="0">
                <a:solidFill>
                  <a:srgbClr val="191923"/>
                </a:solidFill>
              </a:rPr>
              <a:t>PostgreSQL (</a:t>
            </a:r>
            <a:r>
              <a:rPr lang="ru-RU" dirty="0">
                <a:solidFill>
                  <a:srgbClr val="191923"/>
                </a:solidFill>
              </a:rPr>
              <a:t>транзакции, списание/возврат).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F79B3"/>
                </a:solidFill>
              </a:rPr>
              <a:t>TcpServer</a:t>
            </a:r>
            <a:r>
              <a:rPr lang="en-US" dirty="0">
                <a:solidFill>
                  <a:srgbClr val="0F79B3"/>
                </a:solidFill>
              </a:rPr>
              <a:t> + </a:t>
            </a:r>
            <a:r>
              <a:rPr lang="en-US" dirty="0" err="1">
                <a:solidFill>
                  <a:srgbClr val="0F79B3"/>
                </a:solidFill>
              </a:rPr>
              <a:t>ClientConnection</a:t>
            </a:r>
            <a:r>
              <a:rPr lang="en-US" dirty="0">
                <a:solidFill>
                  <a:srgbClr val="0F79B3"/>
                </a:solidFill>
              </a:rPr>
              <a:t> – </a:t>
            </a:r>
            <a:r>
              <a:rPr lang="ru-RU" dirty="0">
                <a:solidFill>
                  <a:srgbClr val="191923"/>
                </a:solidFill>
              </a:rPr>
              <a:t>обработка запросов от клиентов.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F79B3"/>
                </a:solidFill>
              </a:rPr>
              <a:t>TcpClient</a:t>
            </a:r>
            <a:r>
              <a:rPr lang="en-US" dirty="0">
                <a:solidFill>
                  <a:srgbClr val="0F79B3"/>
                </a:solidFill>
              </a:rPr>
              <a:t> – </a:t>
            </a:r>
            <a:r>
              <a:rPr lang="ru-RU" dirty="0">
                <a:solidFill>
                  <a:srgbClr val="191923"/>
                </a:solidFill>
              </a:rPr>
              <a:t>клиентский дублёр </a:t>
            </a:r>
            <a:r>
              <a:rPr lang="en-US" dirty="0" err="1">
                <a:solidFill>
                  <a:srgbClr val="191923"/>
                </a:solidFill>
              </a:rPr>
              <a:t>DBWorker</a:t>
            </a:r>
            <a:r>
              <a:rPr lang="ru-RU" dirty="0">
                <a:solidFill>
                  <a:srgbClr val="191923"/>
                </a:solidFill>
              </a:rPr>
              <a:t>.</a:t>
            </a:r>
            <a:endParaRPr lang="en-US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F79B3"/>
                </a:solidFill>
              </a:rPr>
              <a:t>Logs, Settings – </a:t>
            </a:r>
            <a:r>
              <a:rPr lang="ru-RU" dirty="0">
                <a:solidFill>
                  <a:srgbClr val="191923"/>
                </a:solidFill>
              </a:rPr>
              <a:t>сервисные классы (</a:t>
            </a:r>
            <a:r>
              <a:rPr lang="en-US" dirty="0">
                <a:solidFill>
                  <a:srgbClr val="191923"/>
                </a:solidFill>
              </a:rPr>
              <a:t>Singleton).</a:t>
            </a:r>
            <a:endParaRPr lang="ru-RU" dirty="0">
              <a:solidFill>
                <a:srgbClr val="191923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EC46A2-2C2E-4AA6-9874-F3FAC970B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7905" y="1588168"/>
            <a:ext cx="6050788" cy="4932707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118312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818147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Демонстрация: окно авторизации и настройки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2D49CF-820D-40C9-9A89-148779FDEE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3" t="6049" r="14112" b="5890"/>
          <a:stretch/>
        </p:blipFill>
        <p:spPr>
          <a:xfrm>
            <a:off x="115503" y="1856717"/>
            <a:ext cx="5130265" cy="4649962"/>
          </a:xfrm>
          <a:prstGeom prst="rect">
            <a:avLst/>
          </a:prstGeom>
          <a:ln w="25400">
            <a:solidFill>
              <a:srgbClr val="191923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455436-BF8D-4098-9CAB-9B2255CFF8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4" t="14597" r="8624" b="11018"/>
          <a:stretch/>
        </p:blipFill>
        <p:spPr>
          <a:xfrm>
            <a:off x="5505137" y="1856717"/>
            <a:ext cx="6571360" cy="4649962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1985993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98897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Демонстрация: оформление заказа (официант)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BBE719-D014-44D3-AE1C-4C857EDFD8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0"/>
          <a:stretch/>
        </p:blipFill>
        <p:spPr>
          <a:xfrm>
            <a:off x="2129878" y="798897"/>
            <a:ext cx="7932241" cy="5953224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173578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98897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Демонстрация: управление складом (кладовщик)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BBE719-D014-44D3-AE1C-4C857EDFD8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8"/>
          <a:stretch/>
        </p:blipFill>
        <p:spPr>
          <a:xfrm>
            <a:off x="2276950" y="1001027"/>
            <a:ext cx="7638098" cy="5731843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151884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98897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Демонстрация: отчёты (администратор)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BBE719-D014-44D3-AE1C-4C857EDFD8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" t="6840"/>
          <a:stretch/>
        </p:blipFill>
        <p:spPr>
          <a:xfrm>
            <a:off x="1576760" y="1320927"/>
            <a:ext cx="9038480" cy="4216146"/>
          </a:xfrm>
          <a:prstGeom prst="rect">
            <a:avLst/>
          </a:prstGeom>
          <a:ln w="25400">
            <a:solidFill>
              <a:srgbClr val="0F79B3"/>
            </a:solidFill>
          </a:ln>
        </p:spPr>
      </p:pic>
    </p:spTree>
    <p:extLst>
      <p:ext uri="{BB962C8B-B14F-4D97-AF65-F5344CB8AC3E}">
        <p14:creationId xmlns:p14="http://schemas.microsoft.com/office/powerpoint/2010/main" val="679934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129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Результаты тестирования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BFBF596-18EF-4E96-B9F3-6B3A62537E1B}"/>
              </a:ext>
            </a:extLst>
          </p:cNvPr>
          <p:cNvSpPr txBox="1">
            <a:spLocks/>
          </p:cNvSpPr>
          <p:nvPr/>
        </p:nvSpPr>
        <p:spPr>
          <a:xfrm>
            <a:off x="0" y="1690687"/>
            <a:ext cx="5948413" cy="5095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Модульные тесты (</a:t>
            </a:r>
            <a:r>
              <a:rPr lang="ru-RU" dirty="0" err="1">
                <a:solidFill>
                  <a:srgbClr val="0F79B3"/>
                </a:solidFill>
              </a:rPr>
              <a:t>Qt</a:t>
            </a:r>
            <a:r>
              <a:rPr lang="ru-RU" dirty="0">
                <a:solidFill>
                  <a:srgbClr val="0F79B3"/>
                </a:solidFill>
              </a:rPr>
              <a:t> </a:t>
            </a:r>
            <a:r>
              <a:rPr lang="ru-RU" dirty="0" err="1">
                <a:solidFill>
                  <a:srgbClr val="0F79B3"/>
                </a:solidFill>
              </a:rPr>
              <a:t>Test</a:t>
            </a:r>
            <a:r>
              <a:rPr lang="ru-RU" dirty="0">
                <a:solidFill>
                  <a:srgbClr val="0F79B3"/>
                </a:solidFill>
              </a:rPr>
              <a:t>): </a:t>
            </a:r>
            <a:r>
              <a:rPr lang="ru-RU" dirty="0" err="1">
                <a:solidFill>
                  <a:srgbClr val="191923"/>
                </a:solidFill>
              </a:rPr>
              <a:t>Logs</a:t>
            </a:r>
            <a:r>
              <a:rPr lang="ru-RU" dirty="0">
                <a:solidFill>
                  <a:srgbClr val="191923"/>
                </a:solidFill>
              </a:rPr>
              <a:t>, </a:t>
            </a:r>
            <a:r>
              <a:rPr lang="ru-RU" dirty="0" err="1">
                <a:solidFill>
                  <a:srgbClr val="191923"/>
                </a:solidFill>
              </a:rPr>
              <a:t>Settings</a:t>
            </a:r>
            <a:r>
              <a:rPr lang="ru-RU" dirty="0">
                <a:solidFill>
                  <a:srgbClr val="191923"/>
                </a:solidFill>
              </a:rPr>
              <a:t>, </a:t>
            </a:r>
            <a:r>
              <a:rPr lang="ru-RU" dirty="0" err="1">
                <a:solidFill>
                  <a:srgbClr val="191923"/>
                </a:solidFill>
              </a:rPr>
              <a:t>TcpClient</a:t>
            </a:r>
            <a:r>
              <a:rPr lang="ru-RU" dirty="0">
                <a:solidFill>
                  <a:srgbClr val="191923"/>
                </a:solidFill>
              </a:rPr>
              <a:t> – все пройдены.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Функциональные тесты (13 кейсов) – </a:t>
            </a:r>
            <a:r>
              <a:rPr lang="ru-RU" dirty="0">
                <a:solidFill>
                  <a:srgbClr val="191923"/>
                </a:solidFill>
              </a:rPr>
              <a:t>все пройдены.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Охвачены:</a:t>
            </a:r>
            <a:r>
              <a:rPr lang="ru-RU" dirty="0">
                <a:solidFill>
                  <a:srgbClr val="191923"/>
                </a:solidFill>
              </a:rPr>
              <a:t> авторизация, добавление/удаление блюд, списание/возврат, отчёты, настройки.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2688FD49-EB8A-4B3D-9324-025D9F4C26C8}"/>
              </a:ext>
            </a:extLst>
          </p:cNvPr>
          <p:cNvSpPr txBox="1">
            <a:spLocks/>
          </p:cNvSpPr>
          <p:nvPr/>
        </p:nvSpPr>
        <p:spPr>
          <a:xfrm>
            <a:off x="6096000" y="933651"/>
            <a:ext cx="6096000" cy="5852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0F79B3"/>
                </a:solidFill>
              </a:rPr>
              <a:t>Результаты модульных тестов: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***</a:t>
            </a:r>
            <a:r>
              <a:rPr lang="en-US" sz="2400" dirty="0">
                <a:solidFill>
                  <a:srgbClr val="191923"/>
                </a:solidFill>
              </a:rPr>
              <a:t>Start testing of </a:t>
            </a:r>
            <a:r>
              <a:rPr lang="en-US" sz="2400" dirty="0" err="1">
                <a:solidFill>
                  <a:srgbClr val="191923"/>
                </a:solidFill>
              </a:rPr>
              <a:t>TestLogs</a:t>
            </a:r>
            <a:r>
              <a:rPr lang="ru-RU" sz="2400" dirty="0">
                <a:solidFill>
                  <a:srgbClr val="191923"/>
                </a:solidFill>
              </a:rPr>
              <a:t> ***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…</a:t>
            </a:r>
            <a:endParaRPr lang="en-US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91923"/>
                </a:solidFill>
              </a:rPr>
              <a:t>Totals: 4 passed, 0 failed, 0 skipped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*** </a:t>
            </a:r>
            <a:r>
              <a:rPr lang="en-US" sz="2400" dirty="0">
                <a:solidFill>
                  <a:srgbClr val="191923"/>
                </a:solidFill>
              </a:rPr>
              <a:t>Finished testing of </a:t>
            </a:r>
            <a:r>
              <a:rPr lang="en-US" sz="2400" dirty="0" err="1">
                <a:solidFill>
                  <a:srgbClr val="191923"/>
                </a:solidFill>
              </a:rPr>
              <a:t>TestLogs</a:t>
            </a:r>
            <a:r>
              <a:rPr lang="ru-RU" sz="2400" dirty="0">
                <a:solidFill>
                  <a:srgbClr val="191923"/>
                </a:solidFill>
              </a:rPr>
              <a:t> ***</a:t>
            </a:r>
            <a:endParaRPr lang="en-US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*** </a:t>
            </a:r>
            <a:r>
              <a:rPr lang="en-US" sz="2400" dirty="0">
                <a:solidFill>
                  <a:srgbClr val="191923"/>
                </a:solidFill>
              </a:rPr>
              <a:t>Start testing of </a:t>
            </a:r>
            <a:r>
              <a:rPr lang="en-US" sz="2400" dirty="0" err="1">
                <a:solidFill>
                  <a:srgbClr val="191923"/>
                </a:solidFill>
              </a:rPr>
              <a:t>TestSettings</a:t>
            </a:r>
            <a:r>
              <a:rPr lang="ru-RU" sz="2400" dirty="0">
                <a:solidFill>
                  <a:srgbClr val="191923"/>
                </a:solidFill>
              </a:rPr>
              <a:t> ***</a:t>
            </a:r>
            <a:r>
              <a:rPr lang="en-US" sz="2400" dirty="0">
                <a:solidFill>
                  <a:srgbClr val="191923"/>
                </a:solidFill>
              </a:rPr>
              <a:t> </a:t>
            </a:r>
            <a:endParaRPr lang="ru-RU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…</a:t>
            </a:r>
            <a:endParaRPr lang="en-US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91923"/>
                </a:solidFill>
              </a:rPr>
              <a:t>Totals: 2 passed, 0 failed, 0 skipped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*** </a:t>
            </a:r>
            <a:r>
              <a:rPr lang="en-US" sz="2400" dirty="0">
                <a:solidFill>
                  <a:srgbClr val="191923"/>
                </a:solidFill>
              </a:rPr>
              <a:t>Finished testing of </a:t>
            </a:r>
            <a:r>
              <a:rPr lang="en-US" sz="2400" dirty="0" err="1">
                <a:solidFill>
                  <a:srgbClr val="191923"/>
                </a:solidFill>
              </a:rPr>
              <a:t>TestSettings</a:t>
            </a:r>
            <a:r>
              <a:rPr lang="ru-RU" sz="2400" dirty="0">
                <a:solidFill>
                  <a:srgbClr val="191923"/>
                </a:solidFill>
              </a:rPr>
              <a:t> ***</a:t>
            </a:r>
            <a:endParaRPr lang="en-US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*** </a:t>
            </a:r>
            <a:r>
              <a:rPr lang="en-US" sz="2400" dirty="0">
                <a:solidFill>
                  <a:srgbClr val="191923"/>
                </a:solidFill>
              </a:rPr>
              <a:t>Start testing of </a:t>
            </a:r>
            <a:r>
              <a:rPr lang="en-US" sz="2400" dirty="0" err="1">
                <a:solidFill>
                  <a:srgbClr val="191923"/>
                </a:solidFill>
              </a:rPr>
              <a:t>TestTcpClient</a:t>
            </a:r>
            <a:r>
              <a:rPr lang="ru-RU" sz="2400" dirty="0">
                <a:solidFill>
                  <a:srgbClr val="191923"/>
                </a:solidFill>
              </a:rPr>
              <a:t> ***</a:t>
            </a:r>
            <a:r>
              <a:rPr lang="en-US" sz="2400" dirty="0">
                <a:solidFill>
                  <a:srgbClr val="191923"/>
                </a:solidFill>
              </a:rPr>
              <a:t> </a:t>
            </a:r>
            <a:endParaRPr lang="ru-RU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…</a:t>
            </a:r>
            <a:endParaRPr lang="en-US" sz="2400" dirty="0">
              <a:solidFill>
                <a:srgbClr val="191923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191923"/>
                </a:solidFill>
              </a:rPr>
              <a:t>Totals: 2 passed, 0 failed, 0 skipped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191923"/>
                </a:solidFill>
              </a:rPr>
              <a:t>*** </a:t>
            </a:r>
            <a:r>
              <a:rPr lang="en-US" sz="2400" dirty="0">
                <a:solidFill>
                  <a:srgbClr val="191923"/>
                </a:solidFill>
              </a:rPr>
              <a:t>Finished testing of </a:t>
            </a:r>
            <a:r>
              <a:rPr lang="en-US" sz="2400" dirty="0" err="1">
                <a:solidFill>
                  <a:srgbClr val="191923"/>
                </a:solidFill>
              </a:rPr>
              <a:t>TestTcpClient</a:t>
            </a:r>
            <a:r>
              <a:rPr lang="ru-RU" sz="2400" dirty="0">
                <a:solidFill>
                  <a:srgbClr val="191923"/>
                </a:solidFill>
              </a:rPr>
              <a:t> ***</a:t>
            </a:r>
          </a:p>
        </p:txBody>
      </p:sp>
    </p:spTree>
    <p:extLst>
      <p:ext uri="{BB962C8B-B14F-4D97-AF65-F5344CB8AC3E}">
        <p14:creationId xmlns:p14="http://schemas.microsoft.com/office/powerpoint/2010/main" val="1982774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Экономическая эффективность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Себестоимость разработки: </a:t>
            </a:r>
            <a:r>
              <a:rPr lang="ru-RU" dirty="0">
                <a:solidFill>
                  <a:srgbClr val="191923"/>
                </a:solidFill>
              </a:rPr>
              <a:t>419 340 руб.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Экономический эффект в год: </a:t>
            </a:r>
            <a:r>
              <a:rPr lang="ru-RU" dirty="0">
                <a:solidFill>
                  <a:srgbClr val="191923"/>
                </a:solidFill>
              </a:rPr>
              <a:t>~74 000 руб.</a:t>
            </a:r>
          </a:p>
          <a:p>
            <a:pPr marL="0" indent="0">
              <a:buNone/>
            </a:pPr>
            <a:r>
              <a:rPr lang="ru-RU" dirty="0">
                <a:solidFill>
                  <a:srgbClr val="0F79B3"/>
                </a:solidFill>
              </a:rPr>
              <a:t>Срок окупаемости: </a:t>
            </a:r>
            <a:r>
              <a:rPr lang="ru-RU" dirty="0">
                <a:solidFill>
                  <a:srgbClr val="191923"/>
                </a:solidFill>
              </a:rPr>
              <a:t>1,8 года.</a:t>
            </a:r>
          </a:p>
        </p:txBody>
      </p:sp>
    </p:spTree>
    <p:extLst>
      <p:ext uri="{BB962C8B-B14F-4D97-AF65-F5344CB8AC3E}">
        <p14:creationId xmlns:p14="http://schemas.microsoft.com/office/powerpoint/2010/main" val="160886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1AF58-39E0-4A62-8895-0315872C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91923"/>
                </a:solidFill>
                <a:latin typeface="+mn-lt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BAEE7-5CC4-444F-8907-70F84B69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191923"/>
                </a:solidFill>
              </a:rPr>
              <a:t>Разработана клиент-серверная система для ресторана.</a:t>
            </a:r>
          </a:p>
          <a:p>
            <a:r>
              <a:rPr lang="ru-RU" dirty="0">
                <a:solidFill>
                  <a:srgbClr val="191923"/>
                </a:solidFill>
              </a:rPr>
              <a:t>Автоматизированы заказы, склад, отчёты.</a:t>
            </a:r>
          </a:p>
          <a:p>
            <a:r>
              <a:rPr lang="ru-RU" dirty="0">
                <a:solidFill>
                  <a:srgbClr val="191923"/>
                </a:solidFill>
              </a:rPr>
              <a:t>Обеспечено разграничение ролей и </a:t>
            </a:r>
            <a:r>
              <a:rPr lang="ru-RU" dirty="0" err="1">
                <a:solidFill>
                  <a:srgbClr val="191923"/>
                </a:solidFill>
              </a:rPr>
              <a:t>транзакционность</a:t>
            </a:r>
            <a:r>
              <a:rPr lang="ru-RU" dirty="0">
                <a:solidFill>
                  <a:srgbClr val="191923"/>
                </a:solidFill>
              </a:rPr>
              <a:t> списания.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532D0FB-CA22-4492-ADDB-4ADA488D836E}"/>
              </a:ext>
            </a:extLst>
          </p:cNvPr>
          <p:cNvSpPr txBox="1">
            <a:spLocks/>
          </p:cNvSpPr>
          <p:nvPr/>
        </p:nvSpPr>
        <p:spPr>
          <a:xfrm>
            <a:off x="838200" y="45795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rgbClr val="0F79B3"/>
                </a:solidFill>
                <a:latin typeface="+mn-lt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244702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1048</Words>
  <Application>Microsoft Office PowerPoint</Application>
  <PresentationFormat>Широкоэкранный</PresentationFormat>
  <Paragraphs>109</Paragraphs>
  <Slides>16</Slides>
  <Notes>14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РАЗРАБОТКА ПРОГРАММЫ ДЛЯ АВТОМАТИЗАЦИИ ОФОРМЛЕНИЯ  ЗАКАЗОВ В РЕСТОРАНЕ</vt:lpstr>
      <vt:lpstr>Презентация PowerPoint</vt:lpstr>
      <vt:lpstr>Актуальность и проблема</vt:lpstr>
      <vt:lpstr>Цель и задачи</vt:lpstr>
      <vt:lpstr>Технологии и архитектура</vt:lpstr>
      <vt:lpstr>Модель предметной области</vt:lpstr>
      <vt:lpstr>Модель предметной области</vt:lpstr>
      <vt:lpstr>Логическая модель данных</vt:lpstr>
      <vt:lpstr>Общая диаграмма классов</vt:lpstr>
      <vt:lpstr>Демонстрация: окно авторизации и настройки</vt:lpstr>
      <vt:lpstr>Демонстрация: оформление заказа (официант)</vt:lpstr>
      <vt:lpstr>Демонстрация: управление складом (кладовщик)</vt:lpstr>
      <vt:lpstr>Демонстрация: отчёты (администратор)</vt:lpstr>
      <vt:lpstr>Результаты тестирования</vt:lpstr>
      <vt:lpstr>Экономическая эффективность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rodio</dc:creator>
  <cp:lastModifiedBy>rodio</cp:lastModifiedBy>
  <cp:revision>121</cp:revision>
  <dcterms:created xsi:type="dcterms:W3CDTF">2026-05-20T19:24:26Z</dcterms:created>
  <dcterms:modified xsi:type="dcterms:W3CDTF">2026-05-21T13:17:38Z</dcterms:modified>
</cp:coreProperties>
</file>